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147470489" r:id="rId2"/>
    <p:sldId id="2147470492" r:id="rId3"/>
    <p:sldId id="2147470493" r:id="rId4"/>
    <p:sldId id="2147470487" r:id="rId5"/>
    <p:sldId id="2147470494" r:id="rId6"/>
    <p:sldId id="2147470501" r:id="rId7"/>
    <p:sldId id="2147470498" r:id="rId8"/>
    <p:sldId id="2147470497" r:id="rId9"/>
    <p:sldId id="2147470499" r:id="rId10"/>
    <p:sldId id="2147470502" r:id="rId11"/>
    <p:sldId id="2147470503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5B9ED"/>
    <a:srgbClr val="47BDAE"/>
    <a:srgbClr val="30BBDA"/>
    <a:srgbClr val="47BDAF"/>
    <a:srgbClr val="696969"/>
    <a:srgbClr val="1C4D98"/>
    <a:srgbClr val="8BC431"/>
    <a:srgbClr val="97B6BA"/>
    <a:srgbClr val="24A8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1212" y="1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3F4D17B-9B25-2D63-E389-71163BD2C8E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FC4ED1-FB42-4A6C-B292-B8C58946A8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35A630-145D-4232-9865-98341E30F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708363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837F2-3C53-43E6-9F25-242D13C5A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2C3C5-9B28-493B-9422-74FF4AE18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70436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9B68FAD-9CFA-CBF0-4B37-9944C2E932A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D4B6E2-CC70-4366-ABC8-87480CC35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D34EE-ED80-45A7-B964-53ED80D94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3036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3BCD6-D227-4C30-8364-6F161FA12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C3054-5604-4679-AF7D-07BF06BE01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47BA85-32D5-4EA3-9F8B-5A8B92517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96123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F33A1-3BE5-4F1B-8E70-082254902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4CAE0-72F2-4F22-A85A-772E3DA04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DE67E9-F76F-4049-98D4-82E9E7C800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332A94-E906-4159-9FE4-E63CFAE0BE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16D1AA-A642-4FEB-91F0-3F506A2AE8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9363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BF108-6EC2-4592-9D33-716E6B1AC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26736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7387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2AB71-FC15-4C88-A99B-0D66CDCEE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69B3E-A4BB-45D7-ABB7-1E151F04F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FD4C72-B215-468A-8722-23007428B0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94330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42731-906B-40B4-86D3-CD7878598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1042F1-26FD-477E-A079-62384AA43E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52E8FE-8F89-4D08-8341-786A0381BB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8541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B0375-D926-48D9-8605-813B1B64E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8D7657-21CC-45AA-A2CE-92653962FC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9364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A09EBA-4206-40BF-81B1-742CF8BD5B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B8BE7B-6EB1-4B41-A25B-B41833E5B2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1384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5996" y="1271219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06C9D6B8-9A00-34FD-3E41-E67F07F278E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5996" y="629525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36477356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803" y="469835"/>
            <a:ext cx="11672300" cy="65004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2443542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microsoft.com/office/2007/relationships/hdphoto" Target="../media/hdphoto2.wdp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D087FE-85BE-5152-9EB5-3B57AE38DD48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337544"/>
            <a:ext cx="12191994" cy="154830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EFA70D2-ADBF-0DD4-D7D1-F37201867E99}"/>
              </a:ext>
            </a:extLst>
          </p:cNvPr>
          <p:cNvSpPr/>
          <p:nvPr userDrawn="1"/>
        </p:nvSpPr>
        <p:spPr>
          <a:xfrm>
            <a:off x="0" y="0"/>
            <a:ext cx="12192000" cy="365125"/>
          </a:xfrm>
          <a:prstGeom prst="rect">
            <a:avLst/>
          </a:prstGeom>
          <a:gradFill>
            <a:gsLst>
              <a:gs pos="5000">
                <a:srgbClr val="47BDAE"/>
              </a:gs>
              <a:gs pos="59000">
                <a:srgbClr val="25B9ED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2000" b="1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C08DB-FBED-4A43-AE4B-B2CE371FE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8" name="Picture 4" descr="LTIMindtree logo in transparent PNG and vectorized SVG formats">
            <a:extLst>
              <a:ext uri="{FF2B5EF4-FFF2-40B4-BE49-F238E27FC236}">
                <a16:creationId xmlns:a16="http://schemas.microsoft.com/office/drawing/2014/main" id="{21F70453-17DB-04F6-290A-DCDEF9FDE0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saturation sat="400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5387" y="6562429"/>
            <a:ext cx="1541059" cy="295571"/>
          </a:xfrm>
          <a:prstGeom prst="rect">
            <a:avLst/>
          </a:prstGeom>
          <a:noFill/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DBDE3A73-7407-B3B5-0BC2-D13C973D143A}"/>
              </a:ext>
            </a:extLst>
          </p:cNvPr>
          <p:cNvSpPr txBox="1">
            <a:spLocks/>
          </p:cNvSpPr>
          <p:nvPr userDrawn="1"/>
        </p:nvSpPr>
        <p:spPr>
          <a:xfrm>
            <a:off x="221274" y="88514"/>
            <a:ext cx="8176583" cy="1103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0A0B4C8-C250-76C3-01DB-D728F6B32656}"/>
              </a:ext>
            </a:extLst>
          </p:cNvPr>
          <p:cNvSpPr txBox="1">
            <a:spLocks/>
          </p:cNvSpPr>
          <p:nvPr userDrawn="1"/>
        </p:nvSpPr>
        <p:spPr>
          <a:xfrm>
            <a:off x="391411" y="640135"/>
            <a:ext cx="11290305" cy="523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Calibri (Body)"/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49D7A90-F0A3-C216-D67E-9B86D1BECDF5}"/>
              </a:ext>
            </a:extLst>
          </p:cNvPr>
          <p:cNvSpPr txBox="1">
            <a:spLocks/>
          </p:cNvSpPr>
          <p:nvPr userDrawn="1"/>
        </p:nvSpPr>
        <p:spPr>
          <a:xfrm>
            <a:off x="158720" y="413891"/>
            <a:ext cx="10025576" cy="685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3075D7-F006-A81F-68F1-A5F218FAF004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554" y="6358271"/>
            <a:ext cx="964436" cy="41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482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4" Type="http://schemas.microsoft.com/office/2007/relationships/hdphoto" Target="../media/hdphoto3.wdp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ns2="http://schemas.microsoft.com/office/drawing/2014/main" xmlns:ns3="http://schemas.openxmlformats.org/officeDocument/2006/relationships" xmlns:ns4="http://schemas.microsoft.com/office/drawing/2010/main" xmlns:ns5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ns2:creationId id="{98D30BC0-07A3-DCDA-0D0B-DD40C2178A62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ns2:creationId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M.Tech/MCA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ns2:creationId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ns2:creationId id="{41AA452C-B3E6-7A79-FD46-04E813851A85}"/>
              </a:ext>
            </a:extLst>
          </p:cNvPr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ns2:creationId id="{598A8852-79FE-2D69-0530-D7712358063B}"/>
              </a:ext>
            </a:extLst>
          </p:cNvPr>
          <p:cNvSpPr txBox="1"/>
          <p:nvPr/>
        </p:nvSpPr>
        <p:spPr>
          <a:xfrm>
            <a:off x="180236" y="1659822"/>
            <a:ext cx="11428184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Review III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Utility Employee RAG</a:t>
            </a:r>
          </a:p>
          <a:p>
            <a:pPr lvl="0"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Team member: Not specified in supplied materials</a:t>
            </a:r>
          </a:p>
        </p:txBody>
      </p:sp>
      <p:graphicFrame>
        <p:nvGraphicFramePr>
          <p:cNvPr id="3" name="Table 2">
            <a:extLst>
              <a:ext uri="{FF2B5EF4-FFF2-40B4-BE49-F238E27FC236}">
                <ns2:creationId id="{0E7F5D19-19F4-F87F-17C2-8520612BCFEC}"/>
              </a:ext>
            </a:extLst>
          </p:cNvPr>
          <p:cNvGraphicFramePr>
            <a:graphicFrameLocks noGrp="1"/>
          </p:cNvGraphicFramePr>
          <p:nvPr/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ns2:colId val="586572480"/>
                    </a:ext>
                  </a:extLst>
                </a:gridCol>
                <a:gridCol w="6119608">
                  <a:extLst>
                    <a:ext uri="{9D8B030D-6E8A-4147-A177-3AD203B41FA5}">
                      <ns2:colId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ns2:rowId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ns2:rowId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ns2:creationId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ns3:embed="rId2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9" name="Picture 2" descr="LTIMindtree - Technology Consulting and Digital Solutions Company">
            <a:extLst>
              <a:ext uri="{FF2B5EF4-FFF2-40B4-BE49-F238E27FC236}">
                <ns2:creationId id="{B3D78849-E5F7-1DB2-227F-14244586123F}"/>
              </a:ext>
            </a:extLst>
          </p:cNvPr>
          <p:cNvPicPr>
            <a:picLocks noChangeAspect="1" noChangeArrowheads="1"/>
          </p:cNvPicPr>
          <p:nvPr/>
        </p:nvPicPr>
        <p:blipFill>
          <a:blip ns3:embed="rId3">
            <a:extLst>
              <a:ext uri="{BEBA8EAE-BF5A-486C-A8C5-ECC9F3942E4B}">
                <ns4:imgProps>
                  <ns4:imgLayer ns3:embed="rId4">
                    <ns4:imgEffect>
                      <ns4:brightnessContrast bright="100000"/>
                    </ns4:imgEffect>
                  </ns4:imgLayer>
                </ns4:imgProps>
              </a:ext>
              <a:ext uri="{28A0092B-C50C-407E-A947-70E740481C1C}">
                <ns4:useLocalDpi val="0"/>
              </a:ext>
            </a:extLst>
          </a:blip>
          <a:srcRect/>
          <a:stretch>
            <a:fillRect/>
          </a:stretch>
        </p:blipFill>
        <p:spPr bwMode="auto">
          <a:xfrm>
            <a:off x="0" y="5852667"/>
            <a:ext cx="3886489" cy="864886"/>
          </a:xfrm>
          <a:prstGeom prst="rect">
            <a:avLst/>
          </a:prstGeom>
          <a:noFill/>
          <a:extLst>
            <a:ext uri="{909E8E84-426E-40DD-AFC4-6F175D3DCCD1}">
              <ns4:hiddenFill>
                <a:solidFill>
                  <a:srgbClr val="FFFFFF"/>
                </a:solidFill>
              </ns4:hiddenFill>
            </a:ext>
          </a:extLst>
        </p:spPr>
      </p:pic>
    </p:spTree>
    <p:extLst>
      <p:ext uri="{BB962C8B-B14F-4D97-AF65-F5344CB8AC3E}">
        <ns5:creationId val="3449507583"/>
      </p:ext>
    </p:extLst>
  </p:cSld>
  <p:clrMapOvr>
    <a:masterClrMapping/>
  </p:clrMapOvr>
</p:sld>
</file>

<file path=ppt/slides/slide2.xml><?xml version="1.0" encoding="utf-8"?>
<p:sld xmlns:a="http://schemas.openxmlformats.org/drawingml/2006/main" xmlns:ns2="http://schemas.microsoft.com/office/drawing/2014/main" xmlns:ns3="http://schemas.microsoft.com/office/powerpoint/2010/main" xmlns:ns4="http://schemas.openxmlformats.org/markup-compatibility/2006" xmlns:p="http://schemas.openxmlformats.org/presentationml/2006/main">
  <p:cSld>
    <p:spTree>
      <p:nvGrpSpPr>
        <p:cNvPr id="1" name="">
          <a:extLst>
            <a:ext uri="{FF2B5EF4-FFF2-40B4-BE49-F238E27FC236}">
              <ns2:creationId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ns2:creationId id="{67726612-73E0-5A94-F635-3A742DD5BA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Utility employees need quick access to reliable technical and safety guidance.</a:t>
            </a:r>
            <a:endParaRPr lang="en-US" sz="2400" b="0" dirty="0">
              <a:solidFill>
                <a:srgbClr val="5583D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The project indexes utility reference documents and retrieves relevant passages for employee questions.</a:t>
            </a:r>
            <a:endParaRPr lang="en-US" sz="2400" b="0" dirty="0">
              <a:solidFill>
                <a:srgbClr val="5583D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Answers are generated from retrieved context and include source filenames; missing information is stated explicitly.</a:t>
            </a:r>
            <a:endParaRPr lang="en-US" sz="2400" b="0" dirty="0">
              <a:solidFill>
                <a:srgbClr val="5583D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Employees can also create source-backed work checklists and track completion.</a:t>
            </a: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ns2:creationId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ns2:creationId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ns2:creationId id="{2D91B1D4-191E-E882-BD37-9FBAED57B57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Utility Employee RAG | Review III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ns3:creationId val="2088180620"/>
      </p:ext>
    </p:extLst>
  </p:cSld>
  <p:clrMapOvr>
    <a:masterClrMapping/>
  </p:clrMapOvr>
  <ns4:AlternateContent>
    <ns4:Choice Requires="p14">
      <p:transition spd="med" ns3:dur="700">
        <p:fade/>
      </p:transition>
    </ns4:Choice>
    <ns4:Fallback>
      <p:transition spd="med">
        <p:fade/>
      </p:transition>
    </ns4:Fallback>
  </ns4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3.xml><?xml version="1.0" encoding="utf-8"?>
<p:sld xmlns:a="http://schemas.openxmlformats.org/drawingml/2006/main" xmlns:ns2="http://schemas.microsoft.com/office/drawing/2014/main" xmlns:ns3="http://schemas.microsoft.com/office/powerpoint/2010/main" xmlns:ns4="http://schemas.openxmlformats.org/markup-compatibility/2006" xmlns:p="http://schemas.openxmlformats.org/presentationml/2006/main">
  <p:cSld>
    <p:spTree>
      <p:nvGrpSpPr>
        <p:cNvPr id="1" name="">
          <a:extLst>
            <a:ext uri="{FF2B5EF4-FFF2-40B4-BE49-F238E27FC236}">
              <ns2:creationId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ns2:creationId id="{44D551BF-43EB-C049-6D3B-4D17D57752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Build a searchable knowledge base from supplied utility documents.</a:t>
            </a:r>
            <a:endParaRPr lang="en-US" sz="2400" b="0" dirty="0">
              <a:solidFill>
                <a:srgbClr val="5583D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Retrieve relevant passages to support employee questions with source traceability.</a:t>
            </a:r>
            <a:endParaRPr lang="en-US" sz="2400" b="0" dirty="0">
              <a:solidFill>
                <a:srgbClr val="5583D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Generate concise answers only from retrieved context and identify information gaps.</a:t>
            </a:r>
            <a:endParaRPr lang="en-US" sz="2400" b="0" dirty="0">
              <a:solidFill>
                <a:srgbClr val="5583D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Create ordered work-process checklists with supported prerequisites, safety notes and references.</a:t>
            </a:r>
            <a:endParaRPr lang="en-US" sz="2400" b="0" dirty="0">
              <a:solidFill>
                <a:srgbClr val="5583D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Let employees record progress and administrators review employee activity and refresh the index.</a:t>
            </a: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ns2:creationId id="{72FF40D3-B05A-88C3-591F-882A93FC991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Project Objectives</a:t>
            </a:r>
          </a:p>
        </p:txBody>
      </p:sp>
      <p:cxnSp>
        <p:nvCxnSpPr>
          <p:cNvPr id="5" name="Straight Connector 4">
            <a:extLst>
              <a:ext uri="{FF2B5EF4-FFF2-40B4-BE49-F238E27FC236}">
                <ns2:creationId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ns2:creationId id="{E4452DD5-D934-4955-F39B-2109AC72692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Utility Employee RAG | Review III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ns3:creationId val="1739450533"/>
      </p:ext>
    </p:extLst>
  </p:cSld>
  <p:clrMapOvr>
    <a:masterClrMapping/>
  </p:clrMapOvr>
  <ns4:AlternateContent>
    <ns4:Choice Requires="p14">
      <p:transition spd="med" ns3:dur="700">
        <p:fade/>
      </p:transition>
    </ns4:Choice>
    <ns4:Fallback>
      <p:transition spd="med">
        <p:fade/>
      </p:transition>
    </ns4:Fallback>
  </ns4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4.xml><?xml version="1.0" encoding="utf-8"?>
<p:sld xmlns:a="http://schemas.openxmlformats.org/drawingml/2006/main" xmlns:ns2="http://schemas.microsoft.com/office/drawing/2014/main" xmlns:ns3="http://schemas.microsoft.com/office/powerpoint/2010/main" xmlns:ns4="http://schemas.openxmlformats.org/markup-compatibility/2006" xmlns:ns5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ns2:creationId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z="2400">
                <a:solidFill>
                  <a:srgbClr val="5583D1"/>
                </a:solidFill>
                <a:latin typeface="+mn-lt"/>
              </a:rPr>
              <a:t>Employee portal: knowledge assistant, saved checklists and step completion tracking.</a:t>
            </a:r>
          </a:p>
          <a:p>
            <a:pPr marL="0" indent="0">
              <a:buNone/>
            </a:pPr>
            <a:r>
              <a:rPr lang="en-US" dirty="0" sz="2400">
                <a:solidFill>
                  <a:srgbClr val="5583D1"/>
                </a:solidFill>
                <a:latin typeface="+mn-lt"/>
              </a:rPr>
              <a:t>Document pipeline: PDF, DOCX, TXT and CSV extraction, chunking, embeddings and indexing.</a:t>
            </a:r>
          </a:p>
          <a:p>
            <a:pPr marL="0" indent="0">
              <a:buNone/>
            </a:pPr>
            <a:r>
              <a:rPr lang="en-US" dirty="0" sz="2400">
                <a:solidFill>
                  <a:srgbClr val="5583D1"/>
                </a:solidFill>
                <a:latin typeface="+mn-lt"/>
              </a:rPr>
              <a:t>RAG assistant: similarity search, context-grounded answers and source filenames.</a:t>
            </a:r>
          </a:p>
          <a:p>
            <a:pPr marL="0" indent="0">
              <a:buNone/>
            </a:pPr>
            <a:r>
              <a:rPr lang="en-US" dirty="0" sz="2400">
                <a:solidFill>
                  <a:srgbClr val="5583D1"/>
                </a:solidFill>
                <a:latin typeface="+mn-lt"/>
              </a:rPr>
              <a:t>Work-process generator: ordered worksheets with source references for every step.</a:t>
            </a:r>
          </a:p>
          <a:p>
            <a:pPr marL="0" indent="0">
              <a:buNone/>
            </a:pPr>
            <a:r>
              <a:rPr lang="en-US" dirty="0" sz="2400">
                <a:solidFill>
                  <a:srgbClr val="5583D1"/>
                </a:solidFill>
                <a:latin typeface="+mn-lt"/>
              </a:rPr>
              <a:t>Admin portal: employee overview, account controls and background re-indexing.</a:t>
            </a:r>
          </a:p>
        </p:txBody>
      </p:sp>
      <p:sp>
        <p:nvSpPr>
          <p:cNvPr id="3" name="TextBox 2">
            <a:extLst>
              <a:ext uri="{FF2B5EF4-FFF2-40B4-BE49-F238E27FC236}">
                <ns2:creationId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Application Modules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ns2:creationId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ns2:creationId id="{65221164-7940-3B34-A613-28A74A63E0F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rgbClr val="FFFFFF"/>
                </a:solidFill>
              </a:rPr>
              <a:t>Utility Employee RAG | Review III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ns3:creationId val="3377586287"/>
      </p:ext>
    </p:extLst>
  </p:cSld>
  <p:clrMapOvr>
    <a:masterClrMapping/>
  </p:clrMapOvr>
  <ns4:AlternateContent>
    <ns4:Choice Requires="p159">
      <p:transition spd="slow" ns3:dur="2000">
        <ns5:morph option="byObject"/>
      </p:transition>
    </ns4:Choice>
    <ns4:Fallback>
      <p:transition spd="slow">
        <p:fade/>
      </p:transition>
    </ns4:Fallback>
  </ns4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5.xml><?xml version="1.0" encoding="utf-8"?>
<p:sld xmlns:a="http://schemas.openxmlformats.org/drawingml/2006/main" xmlns:ns2="http://schemas.microsoft.com/office/drawing/2014/main" xmlns:ns3="http://schemas.microsoft.com/office/powerpoint/2010/main" xmlns:ns4="http://schemas.openxmlformats.org/markup-compatibility/2006" xmlns:p="http://schemas.openxmlformats.org/presentationml/2006/main">
  <p:cSld>
    <p:spTree>
      <p:nvGrpSpPr>
        <p:cNvPr id="1" name="">
          <a:extLst>
            <a:ext uri="{FF2B5EF4-FFF2-40B4-BE49-F238E27FC236}">
              <ns2:creationId id="{CBE2D7CD-C158-6FC1-06C7-09444D2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ns2:creationId id="{D325C8EF-A5DD-AB22-0372-51B9ABE635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Utility guidance is distributed across multiple technical and safety documents.</a:t>
            </a:r>
            <a:endParaRPr lang="en-US" sz="2400" b="0" dirty="0">
              <a:solidFill>
                <a:srgbClr val="5583D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Finding the relevant passage manually can slow access to work instructions.</a:t>
            </a:r>
            <a:endParaRPr lang="en-US" sz="2400" b="0" dirty="0">
              <a:solidFill>
                <a:srgbClr val="5583D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Answers and generated procedures need traceable sources and must not fill document gaps with guesses.</a:t>
            </a:r>
            <a:endParaRPr lang="en-US" sz="2400" b="0" dirty="0">
              <a:solidFill>
                <a:srgbClr val="5583D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Work-step completion also needs a persistent record for employees and an administrative overview.</a:t>
            </a: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ns2:creationId id="{CB15F4B8-EED0-F7BE-96C7-D7AAE989A2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Problem Statement</a:t>
            </a:r>
          </a:p>
        </p:txBody>
      </p:sp>
      <p:cxnSp>
        <p:nvCxnSpPr>
          <p:cNvPr id="5" name="Straight Connector 4">
            <a:extLst>
              <a:ext uri="{FF2B5EF4-FFF2-40B4-BE49-F238E27FC236}">
                <ns2:creationId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ns2:creationId id="{6CE164B1-01DD-BF3B-88E8-DF2DEDBFA9EB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Utility Employee RAG | Review III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ns3:creationId val="2034681921"/>
      </p:ext>
    </p:extLst>
  </p:cSld>
  <p:clrMapOvr>
    <a:masterClrMapping/>
  </p:clrMapOvr>
  <ns4:AlternateContent>
    <ns4:Choice Requires="p14">
      <p:transition spd="med" ns3:dur="700">
        <p:fade/>
      </p:transition>
    </ns4:Choice>
    <ns4:Fallback>
      <p:transition spd="med">
        <p:fade/>
      </p:transition>
    </ns4:Fallback>
  </ns4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6.xml><?xml version="1.0" encoding="utf-8"?>
<p:sld xmlns:a="http://schemas.openxmlformats.org/drawingml/2006/main" xmlns:ns2="http://schemas.microsoft.com/office/drawing/2014/main" xmlns:ns3="http://schemas.microsoft.com/office/powerpoint/2010/main" xmlns:ns4="http://schemas.openxmlformats.org/markup-compatibility/2006" xmlns:p="http://schemas.openxmlformats.org/presentationml/2006/main">
  <p:cSld>
    <p:spTree>
      <p:nvGrpSpPr>
        <p:cNvPr id="1" name="">
          <a:extLst>
            <a:ext uri="{FF2B5EF4-FFF2-40B4-BE49-F238E27FC236}">
              <ns2:creationId id="{CC13BE5C-251C-23E3-8F19-EE2DB3009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ns2:creationId id="{6E2C3DBE-E507-D889-A890-2C56D2A659B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Load PDF, DOCX, TXT and CSV files from the knowledge-base and raw folders.</a:t>
            </a:r>
            <a:endParaRPr lang="en-US" sz="2400" b="0" dirty="0">
              <a:solidFill>
                <a:srgbClr val="5583D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Split extracted text into 300-word chunks with 50-word overlap.</a:t>
            </a:r>
            <a:endParaRPr lang="en-US" sz="2400" b="0" dirty="0">
              <a:solidFill>
                <a:srgbClr val="5583D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Embed locally with all-MiniLM-L6-v2; index normalized vectors using FAISS inner-product search.</a:t>
            </a:r>
            <a:endParaRPr lang="en-US" sz="2400" b="0" dirty="0">
              <a:solidFill>
                <a:srgbClr val="5583D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Q&amp;A retrieves 5 passages; checklist generation searches 30, deduplicates, then uses up to 10.</a:t>
            </a:r>
            <a:endParaRPr lang="en-US" sz="2400" b="0" dirty="0">
              <a:solidFill>
                <a:srgbClr val="5583D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Send retrieved context to Gemini; save checklist steps and completion status in the database.</a:t>
            </a: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ns2:creationId id="{64ABB59C-76FD-5246-4EEE-72212BF64AE4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Methodology</a:t>
            </a:r>
          </a:p>
        </p:txBody>
      </p:sp>
      <p:cxnSp>
        <p:nvCxnSpPr>
          <p:cNvPr id="5" name="Straight Connector 4">
            <a:extLst>
              <a:ext uri="{FF2B5EF4-FFF2-40B4-BE49-F238E27FC236}">
                <ns2:creationId id="{04BC82A4-B382-2A00-3070-17B2B47F169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ns2:creationId id="{68E73589-106E-E0B7-D90D-C7E75D0CB2B6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Utility Employee RAG | Review III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ns3:creationId val="2015818812"/>
      </p:ext>
    </p:extLst>
  </p:cSld>
  <p:clrMapOvr>
    <a:masterClrMapping/>
  </p:clrMapOvr>
  <ns4:AlternateContent>
    <ns4:Choice Requires="p14">
      <p:transition spd="med" ns3:dur="700">
        <p:fade/>
      </p:transition>
    </ns4:Choice>
    <ns4:Fallback>
      <p:transition spd="med">
        <p:fade/>
      </p:transition>
    </ns4:Fallback>
  </ns4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7.xml><?xml version="1.0" encoding="utf-8"?>
<p:sld xmlns:a="http://schemas.openxmlformats.org/drawingml/2006/main" xmlns:ns2="http://schemas.microsoft.com/office/drawing/2014/main" xmlns:ns3="http://schemas.microsoft.com/office/powerpoint/2010/main" xmlns:ns4="http://schemas.openxmlformats.org/markup-compatibility/2006" xmlns:p="http://schemas.openxmlformats.org/presentationml/2006/main">
  <p:cSld>
    <p:spTree>
      <p:nvGrpSpPr>
        <p:cNvPr id="1" name="">
          <a:extLst>
            <a:ext uri="{FF2B5EF4-FFF2-40B4-BE49-F238E27FC236}">
              <ns2:creationId id="{C8E7B675-E694-7663-D55C-2461C40B8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ns2:creationId id="{6E433592-8155-CD6F-B5E3-78AB52F31D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Web: FastAPI routes with Jinja2 employee and administrator pages.</a:t>
            </a:r>
            <a:endParaRPr lang="en-US" sz="2400" b="0" dirty="0">
              <a:solidFill>
                <a:srgbClr val="5583D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Retrieval: local all-MiniLM-L6-v2 embeddings and FAISS IndexFlatIP search.</a:t>
            </a:r>
            <a:endParaRPr lang="en-US" sz="2400" b="0" dirty="0">
              <a:solidFill>
                <a:srgbClr val="5583D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Generation: Google Gemini via google-genai; prompts constrain answers to retrieved context.</a:t>
            </a:r>
            <a:endParaRPr lang="en-US" sz="2400" b="0" dirty="0">
              <a:solidFill>
                <a:srgbClr val="5583D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Data: SQLAlchemy models for users, work processes, steps and employee progress.</a:t>
            </a:r>
            <a:endParaRPr lang="en-US" sz="2400" b="0" dirty="0">
              <a:solidFill>
                <a:srgbClr val="5583D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Text processing: PDF, DOCX, TXT and CSV; 300 words per chunk, 50-word overlap.</a:t>
            </a: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ns2:creationId id="{3D243BDD-B44E-04F0-FA93-336DD2FFA770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Approach, Algorithms and Tools</a:t>
            </a:r>
          </a:p>
        </p:txBody>
      </p:sp>
      <p:cxnSp>
        <p:nvCxnSpPr>
          <p:cNvPr id="5" name="Straight Connector 4">
            <a:extLst>
              <a:ext uri="{FF2B5EF4-FFF2-40B4-BE49-F238E27FC236}">
                <ns2:creationId id="{14963133-FFA1-7CF4-9FAD-E6A120EF4238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ns2:creationId id="{FEA3EC9D-D5AF-E54C-A3D0-5E42F32DC03B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Utility Employee RAG | Review III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ns3:creationId val="107944653"/>
      </p:ext>
    </p:extLst>
  </p:cSld>
  <p:clrMapOvr>
    <a:masterClrMapping/>
  </p:clrMapOvr>
  <ns4:AlternateContent>
    <ns4:Choice Requires="p14">
      <p:transition spd="med" ns3:dur="700">
        <p:fade/>
      </p:transition>
    </ns4:Choice>
    <ns4:Fallback>
      <p:transition spd="med">
        <p:fade/>
      </p:transition>
    </ns4:Fallback>
  </ns4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8.xml><?xml version="1.0" encoding="utf-8"?>
<p:sld xmlns:a="http://schemas.openxmlformats.org/drawingml/2006/main" xmlns:ns2="http://schemas.microsoft.com/office/drawing/2014/main" xmlns:ns3="http://schemas.microsoft.com/office/powerpoint/2010/main" xmlns:ns4="http://schemas.openxmlformats.org/markup-compatibility/2006" xmlns:p="http://schemas.openxmlformats.org/presentationml/2006/main">
  <p:cSld>
    <p:spTree>
      <p:nvGrpSpPr>
        <p:cNvPr id="1" name="">
          <a:extLst>
            <a:ext uri="{FF2B5EF4-FFF2-40B4-BE49-F238E27FC236}">
              <ns2:creationId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ns2:creationId id="{30F88864-2E71-2992-AD53-E894883727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Bundled FAISS metadata contains 3,230 indexed text chunks from 22 source filenames.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The code implements employee Q&amp;A, source-backed checklist generation, step tracking and admin re-indexing.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Checklist generation validates consecutive step numbers and requires a reference for each generated step.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The supplied materials contain no measured answer-accuracy, latency, user-study or impact results.</a:t>
            </a:r>
          </a:p>
        </p:txBody>
      </p:sp>
      <p:sp>
        <p:nvSpPr>
          <p:cNvPr id="3" name="TextBox 2">
            <a:extLst>
              <a:ext uri="{FF2B5EF4-FFF2-40B4-BE49-F238E27FC236}">
                <ns2:creationId id="{3411E118-0427-BF72-3B78-1707B0D6E38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Findings and Results</a:t>
            </a:r>
          </a:p>
        </p:txBody>
      </p:sp>
      <p:cxnSp>
        <p:nvCxnSpPr>
          <p:cNvPr id="5" name="Straight Connector 4">
            <a:extLst>
              <a:ext uri="{FF2B5EF4-FFF2-40B4-BE49-F238E27FC236}">
                <ns2:creationId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ns2:creationId id="{64F7A196-7B69-DD68-52A5-39CD9B799F7D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Utility Employee RAG | Review III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ns3:creationId val="679362563"/>
      </p:ext>
    </p:extLst>
  </p:cSld>
  <p:clrMapOvr>
    <a:masterClrMapping/>
  </p:clrMapOvr>
  <ns4:AlternateContent>
    <ns4:Choice Requires="p14">
      <p:transition spd="med" ns3:dur="700">
        <p:fade/>
      </p:transition>
    </ns4:Choice>
    <ns4:Fallback>
      <p:transition spd="med">
        <p:fade/>
      </p:transition>
    </ns4:Fallback>
  </ns4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9.xml><?xml version="1.0" encoding="utf-8"?>
<p:sld xmlns:a="http://schemas.openxmlformats.org/drawingml/2006/main" xmlns:ns2="http://schemas.microsoft.com/office/drawing/2014/main" xmlns:ns3="http://schemas.microsoft.com/office/powerpoint/2010/main" xmlns:ns4="http://schemas.openxmlformats.org/markup-compatibility/2006" xmlns:p="http://schemas.openxmlformats.org/presentationml/2006/main">
  <p:cSld>
    <p:spTree>
      <p:nvGrpSpPr>
        <p:cNvPr id="1" name="">
          <a:extLst>
            <a:ext uri="{FF2B5EF4-FFF2-40B4-BE49-F238E27FC236}">
              <ns2:creationId id="{C6E5BBC5-46B5-0DF4-A2AC-5289D2957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ns2:creationId id="{97872131-A6C0-4ECF-9994-EA002B6EAD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The codebase brings document retrieval, grounded employee Q&amp;A and work-process tracking into one application.</a:t>
            </a:r>
            <a:endParaRPr lang="en-US" sz="2400" b="0" dirty="0">
              <a:solidFill>
                <a:srgbClr val="5583D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Source references and explicit insufficient-information handling support traceability in generated guidance.</a:t>
            </a:r>
            <a:endParaRPr lang="en-US" sz="2400" b="0" dirty="0">
              <a:solidFill>
                <a:srgbClr val="5583D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The bundled index provides a concrete corpus artifact: 3,230 chunks across 22 source filenames.</a:t>
            </a:r>
            <a:endParaRPr lang="en-US" sz="2400" b="0" dirty="0">
              <a:solidFill>
                <a:srgbClr val="5583D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Retrieval quality and operational impact remain unreported in the supplied project materials.</a:t>
            </a: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ns2:creationId id="{DBEA9949-295E-B2C7-8E3A-639B0AD48F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Conclusion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ns2:creationId id="{1C3477A6-BED1-8211-5527-9030F1E86940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ns2:creationId id="{AB5AC1E1-8B68-1019-1B7A-0CF7BDC8B3EC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Utility Employee RAG | Review III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ns3:creationId val="2198371957"/>
      </p:ext>
    </p:extLst>
  </p:cSld>
  <p:clrMapOvr>
    <a:masterClrMapping/>
  </p:clrMapOvr>
  <ns4:AlternateContent>
    <ns4:Choice Requires="p14">
      <p:transition spd="med" ns3:dur="700">
        <p:fade/>
      </p:transition>
    </ns4:Choice>
    <ns4:Fallback>
      <p:transition spd="med">
        <p:fade/>
      </p:transition>
    </ns4:Fallback>
  </ns4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0.xml><?xml version="1.0" encoding="utf-8"?>
<p:sld xmlns:a="http://schemas.openxmlformats.org/drawingml/2006/main" xmlns:ns2="http://schemas.microsoft.com/office/drawing/2014/main" xmlns:ns3="http://schemas.microsoft.com/office/powerpoint/2010/main" xmlns:ns4="http://schemas.openxmlformats.org/markup-compatibility/2006" xmlns:p="http://schemas.openxmlformats.org/presentationml/2006/main">
  <p:cSld>
    <p:spTree>
      <p:nvGrpSpPr>
        <p:cNvPr id="1" name="">
          <a:extLst>
            <a:ext uri="{FF2B5EF4-FFF2-40B4-BE49-F238E27FC236}">
              <ns2:creationId id="{45A56F40-96CC-DEF8-9EB7-145237237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ns2:creationId id="{0E03C842-0779-BE44-EECA-2F2EE3FA730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The supplied files do not identify individual supervisors, reviewers or other contributors.</a:t>
            </a:r>
            <a:endParaRPr lang="en-US" sz="2400" b="0" dirty="0">
              <a:solidFill>
                <a:srgbClr val="5583D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The template identifies the program as jointly offered by the University and LTIMindTree.</a:t>
            </a: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ns2:creationId id="{06DDE408-8E1E-6FA2-7CC4-7953936B171B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 err="1">
                <a:solidFill>
                  <a:srgbClr val="5B9BD5">
                    <a:lumMod val="50000"/>
                  </a:srgbClr>
                </a:solidFill>
              </a:rPr>
              <a:t>Acknowledgement</a:t>
            </a:r>
          </a:p>
        </p:txBody>
      </p:sp>
      <p:cxnSp>
        <p:nvCxnSpPr>
          <p:cNvPr id="5" name="Straight Connector 4">
            <a:extLst>
              <a:ext uri="{FF2B5EF4-FFF2-40B4-BE49-F238E27FC236}">
                <ns2:creationId id="{11AC8EE7-5ED3-D96C-9268-8B7B9A5D057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ns2:creationId id="{506C5A91-6D8B-7A46-6BA9-7AF0BB8742E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Utility Employee RAG | Review III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ns3:creationId val="1573488916"/>
      </p:ext>
    </p:extLst>
  </p:cSld>
  <p:clrMapOvr>
    <a:masterClrMapping/>
  </p:clrMapOvr>
  <ns4:AlternateContent>
    <ns4:Choice Requires="p14">
      <p:transition spd="med" ns3:dur="700">
        <p:fade/>
      </p:transition>
    </ns4:Choice>
    <ns4:Fallback>
      <p:transition spd="med">
        <p:fade/>
      </p:transition>
    </ns4:Fallback>
  </ns4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1.xml><?xml version="1.0" encoding="utf-8"?>
<p:sld xmlns:a="http://schemas.openxmlformats.org/drawingml/2006/main" xmlns:ns2="http://schemas.microsoft.com/office/drawing/2014/main" xmlns:ns3="http://schemas.microsoft.com/office/powerpoint/2010/main" xmlns:ns4="http://schemas.openxmlformats.org/markup-compatibility/2006" xmlns:p="http://schemas.openxmlformats.org/presentationml/2006/main">
  <p:cSld>
    <p:spTree>
      <p:nvGrpSpPr>
        <p:cNvPr id="1" name="">
          <a:extLst>
            <a:ext uri="{FF2B5EF4-FFF2-40B4-BE49-F238E27FC236}">
              <ns2:creationId id="{1EEC1BA9-EED8-0553-15DB-7AC5ADC07E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ns2:creationId id="{31E11D5E-73A6-DACE-A314-51CBCF3D39F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RAG Project.docx — supplied project and setup notes.</a:t>
            </a:r>
            <a:endParaRPr lang="en-US" sz="2400" b="0" dirty="0">
              <a:solidFill>
                <a:srgbClr val="5583D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Implementation1/app — application, retrieval, indexing and generation source code.</a:t>
            </a:r>
            <a:endParaRPr lang="en-US" sz="2400" b="0" dirty="0">
              <a:solidFill>
                <a:srgbClr val="5583D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CEA Safety Requirements for Electrical Plants and Lines (Amendment Regulations, 2022) — supplied PDF.</a:t>
            </a:r>
            <a:endParaRPr lang="en-US" sz="2400" b="0" dirty="0">
              <a:solidFill>
                <a:srgbClr val="5583D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Electrical Safety Manual.pdf; grid_standards_reg.pdf; Distribution Transformer Installation Procedure — supplied files.</a:t>
            </a:r>
            <a:endParaRPr lang="en-US" sz="2400" b="0" dirty="0">
              <a:solidFill>
                <a:srgbClr val="5583D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Bundled FAISS metadata: 3,230 chunk records and 22 source filenames.</a:t>
            </a: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ns2:creationId id="{776CD0F3-77A2-E482-9F59-462941CA9EF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References</a:t>
            </a:r>
          </a:p>
        </p:txBody>
      </p:sp>
      <p:cxnSp>
        <p:nvCxnSpPr>
          <p:cNvPr id="5" name="Straight Connector 4">
            <a:extLst>
              <a:ext uri="{FF2B5EF4-FFF2-40B4-BE49-F238E27FC236}">
                <ns2:creationId id="{0EF328B9-B5B2-A4C8-C436-49616B481A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ns2:creationId id="{E9E96C34-B06E-814D-72EC-EF1F6BBFAAF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Utility Employee RAG | Review III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ns3:creationId val="1659890165"/>
      </p:ext>
    </p:extLst>
  </p:cSld>
  <p:clrMapOvr>
    <a:masterClrMapping/>
  </p:clrMapOvr>
  <ns4:AlternateContent>
    <ns4:Choice Requires="p14">
      <p:transition spd="med" ns3:dur="700">
        <p:fade/>
      </p:transition>
    </ns4:Choice>
    <ns4:Fallback>
      <p:transition spd="med">
        <p:fade/>
      </p:transition>
    </ns4:Fallback>
  </ns4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244</TotalTime>
  <Words>205</Words>
  <Application>Microsoft Office PowerPoint</Application>
  <PresentationFormat>Widescreen</PresentationFormat>
  <Paragraphs>47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Arial</vt:lpstr>
      <vt:lpstr>Calibri</vt:lpstr>
      <vt:lpstr>Calibri (Body)</vt:lpstr>
      <vt:lpstr>Calibri Light</vt:lpstr>
      <vt:lpstr>Frutiger 45 bold</vt:lpstr>
      <vt:lpstr>Frutiger LT Pro 45 Light</vt:lpstr>
      <vt:lpstr>source-serif-pro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HARI PRASATH</dc:creator>
  <cp:lastModifiedBy>HARI PRASATH</cp:lastModifiedBy>
  <cp:revision>14</cp:revision>
  <dcterms:created xsi:type="dcterms:W3CDTF">2024-05-13T10:33:11Z</dcterms:created>
  <dcterms:modified xsi:type="dcterms:W3CDTF">2025-10-06T09:41:15Z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c52bb50-aef2-4dc8-bb7f-e0da22648362_Enabled">
    <vt:lpwstr>true</vt:lpwstr>
  </property>
  <property fmtid="{D5CDD505-2E9C-101B-9397-08002B2CF9AE}" pid="3" name="MSIP_Label_ac52bb50-aef2-4dc8-bb7f-e0da22648362_SetDate">
    <vt:lpwstr>2025-08-25T08:11:33Z</vt:lpwstr>
  </property>
  <property fmtid="{D5CDD505-2E9C-101B-9397-08002B2CF9AE}" pid="4" name="MSIP_Label_ac52bb50-aef2-4dc8-bb7f-e0da22648362_Method">
    <vt:lpwstr>Standard</vt:lpwstr>
  </property>
  <property fmtid="{D5CDD505-2E9C-101B-9397-08002B2CF9AE}" pid="5" name="MSIP_Label_ac52bb50-aef2-4dc8-bb7f-e0da22648362_Name">
    <vt:lpwstr>ac52bb50-aef2-4dc8-bb7f-e0da22648362</vt:lpwstr>
  </property>
  <property fmtid="{D5CDD505-2E9C-101B-9397-08002B2CF9AE}" pid="6" name="MSIP_Label_ac52bb50-aef2-4dc8-bb7f-e0da22648362_SiteId">
    <vt:lpwstr>264b9899-fe1b-430b-9509-2154878d5774</vt:lpwstr>
  </property>
  <property fmtid="{D5CDD505-2E9C-101B-9397-08002B2CF9AE}" pid="7" name="MSIP_Label_ac52bb50-aef2-4dc8-bb7f-e0da22648362_ActionId">
    <vt:lpwstr>5a5317b9-6049-4f38-9ea6-5786aca62bc4</vt:lpwstr>
  </property>
  <property fmtid="{D5CDD505-2E9C-101B-9397-08002B2CF9AE}" pid="8" name="MSIP_Label_ac52bb50-aef2-4dc8-bb7f-e0da22648362_ContentBits">
    <vt:lpwstr>2</vt:lpwstr>
  </property>
  <property fmtid="{D5CDD505-2E9C-101B-9397-08002B2CF9AE}" pid="9" name="MSIP_Label_ac52bb50-aef2-4dc8-bb7f-e0da22648362_Tag">
    <vt:lpwstr>10, 3, 0, 1</vt:lpwstr>
  </property>
  <property fmtid="{D5CDD505-2E9C-101B-9397-08002B2CF9AE}" pid="10" name="ClassificationContentMarkingFooterLocations">
    <vt:lpwstr>1_Office Theme:8</vt:lpwstr>
  </property>
  <property fmtid="{D5CDD505-2E9C-101B-9397-08002B2CF9AE}" pid="11" name="ClassificationContentMarkingFooterText">
    <vt:lpwstr>Sensitivity: LNT Construction Internal Use</vt:lpwstr>
  </property>
</Properties>
</file>